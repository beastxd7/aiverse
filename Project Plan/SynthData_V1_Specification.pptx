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E2A0F"/>
          </a:solidFill>
          <a:ln w="12700">
            <a:solidFill>
              <a:srgbClr val="1E2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SYNTHDATA · V1 SPEC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228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7043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Specification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what we're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F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shipping.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457200" y="3931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5"/>
                </a:solidFill>
              </a:rPr>
              <a:t>A complete, reviewer-approved specification of SynthData V1.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8A85"/>
                </a:solidFill>
              </a:rPr>
              <a:t>What it does, how it works, what ships, what doesn't.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0" y="4754880"/>
            <a:ext cx="9144000" cy="2286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 final  ·  April 2026  ·  Ready for engineering kickoff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>
              <a:gd name="adj" fmla="val 50000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WHAT IT 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in one sentence.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73152" cy="201168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platform where ML engineers generate synthetic text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datasets on demand — describe your domain, define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schema, bring your own API key, pick a sample count.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handle the rest.</a:t>
            </a:r>
            <a:endParaRPr lang="en-US" sz="2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2336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Domain-agnostic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42793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HR, fintech, medical, legal — any text domain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40233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476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Schema-enforced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94760" y="42793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Every row validated against your JSON structure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02336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2940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BYOK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629400" y="42793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Your API key, your cost — no markup, no proxy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>
              <a:gd name="adj" fmla="val 50000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CAPABILITIES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what V1 can do.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5"/>
                </a:solidFill>
              </a:rPr>
              <a:t>Five core capabilities, measured and bounded.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01168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011680"/>
            <a:ext cx="45720" cy="123444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031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F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94360" y="26700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3EE"/>
                </a:solidFill>
              </a:rPr>
              <a:t>Max dataset size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9077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5"/>
                </a:solidFill>
              </a:rPr>
              <a:t>samples per single job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201168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011680"/>
            <a:ext cx="45720" cy="123444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21031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F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429000" y="26700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3EE"/>
                </a:solidFill>
              </a:rPr>
              <a:t>Pipeline stages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29077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5"/>
                </a:solidFill>
              </a:rPr>
              <a:t>Discover → Dedupe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201168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2011680"/>
            <a:ext cx="45720" cy="123444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1031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F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263640" y="26700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3EE"/>
                </a:solidFill>
              </a:rPr>
              <a:t>AI providers supported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9077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5"/>
                </a:solidFill>
              </a:rPr>
              <a:t>OpenAI, Anthropic, Groq, Bedrock, Ollama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42900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429000"/>
            <a:ext cx="45720" cy="123444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5204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F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594360" y="40873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3EE"/>
                </a:solidFill>
              </a:rPr>
              <a:t>NLP task types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43251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5"/>
                </a:solidFill>
              </a:rPr>
              <a:t>intent, NER, Q&amp;A, sentiment, custom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46120" y="342900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3429000"/>
            <a:ext cx="45720" cy="123444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35204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F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3429000" y="40873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3EE"/>
                </a:solidFill>
              </a:rPr>
              <a:t>Schema validity target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29000" y="43251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5"/>
                </a:solidFill>
              </a:rPr>
              <a:t>with structured output mode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80760" y="342900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3429000"/>
            <a:ext cx="45720" cy="123444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5204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F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3min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6263640" y="40873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3EE"/>
                </a:solidFill>
              </a:rPr>
              <a:t>Time to first dataset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43251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5"/>
                </a:solidFill>
              </a:rPr>
              <a:t>for 1,000-sample jobs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>
              <a:gd name="adj" fmla="val 50000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ships. What doesn't.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5"/>
                </a:solidFill>
              </a:rPr>
              <a:t>We cut aggressively. A focused V1 beats a bloated one.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8DAE3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031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0848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A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V1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• Intent classification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606040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• Named entity recognition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293522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• Q&amp;A pairs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06040" y="293522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• Sentiment classification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3558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• Custom text schemas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606040" y="33558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• BYOK — 5 providers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37764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• JSONL + JSON + CSV export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606040" y="37764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• Crash-safe resumable jobs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419709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• MinHash dedup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606040" y="419709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• Chain-of-Thought judge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192024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5BBBB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0312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12080" y="20848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DEFERRED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846320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• Tabular data → V2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812280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• Multi-turn dialogue → V1.5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846320" y="293522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• Multilingual → V1.5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812280" y="293522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• Image/audio → never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846320" y="33558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• Team workspaces → V1.5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812280" y="33558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• OAuth/SSO → V1.1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846320" y="37764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• Dataset versioning → V1.5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812280" y="37764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• Downstream benchmarks → V2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846320" y="419709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• Augmentation (1M+) → V2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812280" y="419709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• Custom prompt templates → V1.5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57200" y="4983480"/>
            <a:ext cx="8229600" cy="182880"/>
          </a:xfrm>
          <a:prstGeom prst="rect">
            <a:avLst>
              <a:gd name="adj" fmla="val 25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57200" y="49834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C8F757"/>
                </a:solidFill>
              </a:rPr>
              <a:t>Every deferred feature has a ship target. None are "maybe, someday."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>
              <a:gd name="adj" fmla="val 50000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THE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stages. One job each.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5"/>
                </a:solidFill>
              </a:rPr>
              <a:t>Stage 7 (augmentation) was dropped from V1 — reviewers flagged quality risk for NLP.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01168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011680"/>
            <a:ext cx="45720" cy="123444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2176272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9436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5"/>
                </a:solidFill>
              </a:rPr>
              <a:t>What varies in the domain?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201168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2011680"/>
            <a:ext cx="45720" cy="123444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2148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886200" y="2167128"/>
            <a:ext cx="457200" cy="201168"/>
          </a:xfrm>
          <a:prstGeom prst="rect">
            <a:avLst>
              <a:gd name="adj" fmla="val 45455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86200" y="21671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</a:rPr>
              <a:t>NEW</a:t>
            </a:r>
            <a:endParaRPr lang="en-US" sz="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176272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2900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342900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5"/>
                </a:solidFill>
              </a:rPr>
              <a:t>Prune illogical combos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080760" y="201168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80760" y="2011680"/>
            <a:ext cx="45720" cy="123444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263640" y="2148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176272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6364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26364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5"/>
                </a:solidFill>
              </a:rPr>
              <a:t>Build unique prompts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11480" y="342900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3429000"/>
            <a:ext cx="45720" cy="123444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94360" y="3566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593592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9436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594360" y="4251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5"/>
                </a:solidFill>
              </a:rPr>
              <a:t>Parallel LLM calls + schema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246120" y="342900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246120" y="3429000"/>
            <a:ext cx="45720" cy="123444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429000" y="3566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3593592"/>
            <a:ext cx="384048" cy="38404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42900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800" dirty="0"/>
          </a:p>
        </p:txBody>
      </p:sp>
      <p:sp>
        <p:nvSpPr>
          <p:cNvPr id="38" name="Text 31"/>
          <p:cNvSpPr/>
          <p:nvPr/>
        </p:nvSpPr>
        <p:spPr>
          <a:xfrm>
            <a:off x="3429000" y="4251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5"/>
                </a:solidFill>
              </a:rPr>
              <a:t>Rules + CoT scoring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6080760" y="342900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080760" y="3429000"/>
            <a:ext cx="45720" cy="123444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6263640" y="3566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3593592"/>
            <a:ext cx="384048" cy="38404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26364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</a:t>
            </a:r>
            <a:endParaRPr lang="en-US" sz="1800" dirty="0"/>
          </a:p>
        </p:txBody>
      </p:sp>
      <p:sp>
        <p:nvSpPr>
          <p:cNvPr id="44" name="Text 36"/>
          <p:cNvSpPr/>
          <p:nvPr/>
        </p:nvSpPr>
        <p:spPr>
          <a:xfrm>
            <a:off x="6263640" y="4251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5"/>
                </a:solidFill>
              </a:rPr>
              <a:t>MinHash LSH (0.85)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274320"/>
          </a:xfrm>
          <a:prstGeom prst="rect">
            <a:avLst>
              <a:gd name="adj" fmla="val 50000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STAGE 01 · DISCOVER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22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731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what varies in your domain.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5"/>
                </a:solidFill>
              </a:rPr>
              <a:t>One LLM call to extract domain knowledge. Takes ~15 seconds.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011680"/>
            <a:ext cx="3840480" cy="27432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User provides: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2788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Domain: "HR Technology"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Use case: "chatbot for hiring..."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5570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Schema: JSON structure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9410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Task type: intent classification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3246120"/>
            <a:ext cx="274320" cy="2743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846320" y="2011680"/>
            <a:ext cx="3840480" cy="2743200"/>
          </a:xfrm>
          <a:prstGeom prst="rect">
            <a:avLst>
              <a:gd name="adj" fmla="val 333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02920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E"/>
                </a:solidFill>
              </a:rPr>
              <a:t>LLM returns axes: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029200" y="2834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0936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</a:rPr>
              <a:t>→  4 values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029200" y="3200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30936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</a:rPr>
              <a:t>→  3 values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029200" y="3566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0936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</a:rPr>
              <a:t>→  4 values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02920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30936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</a:rPr>
              <a:t>→  3 values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5"/>
                </a:solidFill>
              </a:rPr>
              <a:t>Why this works: the LLM already knows the domain. We just ask it to tell us what varies.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560320" cy="274320"/>
          </a:xfrm>
          <a:prstGeom prst="rect">
            <a:avLst>
              <a:gd name="adj" fmla="val 50000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STAGE 02 · VALIDATE  ·  NEW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22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731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nonsense combinations.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5"/>
                </a:solidFill>
              </a:rPr>
              <a:t>A reviewer-requested addition. Prevents garbage combinations from reaching generation.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01168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14141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176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4008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EE"/>
                </a:solidFill>
              </a:rPr>
              <a:t>Illogical combinations: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2971800"/>
            <a:ext cx="3657600" cy="475488"/>
          </a:xfrm>
          <a:prstGeom prst="rect">
            <a:avLst>
              <a:gd name="adj" fmla="val 9615"/>
            </a:avLst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" y="29992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intent: report_harassment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tone: cheerful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40080" y="3538728"/>
            <a:ext cx="3657600" cy="475488"/>
          </a:xfrm>
          <a:prstGeom prst="rect">
            <a:avLst>
              <a:gd name="adj" fmla="val 9615"/>
            </a:avLst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7240" y="3566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intent: emergency_alert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urgency: low_priority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40080" y="4105656"/>
            <a:ext cx="3657600" cy="475488"/>
          </a:xfrm>
          <a:prstGeom prst="rect">
            <a:avLst>
              <a:gd name="adj" fmla="val 9615"/>
            </a:avLst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77240" y="41330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intent: create_jd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context: retail_store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663440" y="201168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141414"/>
          </a:solidFill>
          <a:ln w="12700">
            <a:solidFill>
              <a:srgbClr val="C8F75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19456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12080" y="21762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84632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EE"/>
                </a:solidFill>
              </a:rPr>
              <a:t>1. Generate all combinations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84632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EE"/>
                </a:solidFill>
              </a:rPr>
              <a:t>2. Batch to cheap LLM (50 at a time)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84632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EE"/>
                </a:solidFill>
              </a:rPr>
              <a:t>3. LLM marks each: yes or no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84632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EE"/>
                </a:solidFill>
              </a:rPr>
              <a:t>4. Drop anything marked "no"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84632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EE"/>
                </a:solidFill>
              </a:rPr>
              <a:t>5. Proceed only with valid combos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85"/>
                </a:solidFill>
              </a:rPr>
              <a:t>Typical pruning: 5-15%  ·  Extra cost: ~2-3%  ·  Worth it.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274320"/>
          </a:xfrm>
          <a:prstGeom prst="rect">
            <a:avLst>
              <a:gd name="adj" fmla="val 50000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STAGE 03 · COMPOSE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22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731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combinations into prompts.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5"/>
                </a:solidFill>
              </a:rPr>
              <a:t>The allocation math lives here.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FORMULA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examples_per_combination  =  target_count  ÷  valid_combinations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0080" y="2880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Sweet spot: 5 ≤ examples_per_combination ≤ 20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47472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WORKED EXAMPLE — target 1,000 samples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39319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Axes from Stage 1: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383280" y="393192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× 3 × 4 × 3  =  144 combinations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415137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After Stage 2 pruning: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83280" y="4151376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valid combinations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" y="43708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Allocation: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383280" y="437083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 ÷ 120  ≈  9 per combo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" y="45902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Plan total: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383280" y="459028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× 9  =  1,080 samples (5% oversample)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274320"/>
          </a:xfrm>
          <a:prstGeom prst="rect">
            <a:avLst>
              <a:gd name="adj" fmla="val 50000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STAGE 04 · GENERATE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22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731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calls. Checkpointed to DB.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5"/>
                </a:solidFill>
              </a:rPr>
              <a:t>Every row persisted the moment it's validated. Crash = resume, not restart.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41414"/>
          </a:solidFill>
          <a:ln w="12700">
            <a:solidFill>
              <a:srgbClr val="C8F75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</a:rPr>
              <a:t>generation_plan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0080" y="26060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table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rows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pending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880360"/>
            <a:ext cx="274320" cy="2743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291840" y="196596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41414"/>
          </a:solidFill>
          <a:ln w="12700">
            <a:solidFill>
              <a:srgbClr val="C8F75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14884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3192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</a:rPr>
              <a:t>Worker pool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3474720" y="26060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parallel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Celery tasks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concurrent LLM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2880360"/>
            <a:ext cx="274320" cy="27432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126480" y="196596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41414"/>
          </a:solidFill>
          <a:ln w="12700">
            <a:solidFill>
              <a:srgbClr val="C8F757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14884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6656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</a:rPr>
              <a:t>Postgres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6309360" y="26060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success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flag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457200" y="43891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A0F"/>
          </a:solidFill>
          <a:ln w="12700">
            <a:solidFill>
              <a:srgbClr val="C8F757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526280"/>
            <a:ext cx="320040" cy="32004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51560" y="44348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8F757"/>
                </a:solidFill>
              </a:rPr>
              <a:t>Promise to user: "If anything fails, you never lose what was generated. Resume always works."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274320"/>
          </a:xfrm>
          <a:prstGeom prst="rect">
            <a:avLst>
              <a:gd name="adj" fmla="val 50000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STAGE 05 · JUDGE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22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731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first. LLM second.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5"/>
                </a:solidFill>
              </a:rPr>
              <a:t>Two-layer quality check. Cheap layer first, expensive layer only if needed.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283464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965960"/>
            <a:ext cx="4023360" cy="36576"/>
          </a:xfrm>
          <a:prstGeom prst="rect">
            <a:avLst/>
          </a:prstGeom>
          <a:solidFill>
            <a:srgbClr val="8DAE30"/>
          </a:solidFill>
          <a:ln w="12700">
            <a:solidFill>
              <a:srgbClr val="8DAE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DAE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 — RULES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Deterministic. Free.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Text length 5-500 chars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Label in allowed set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No placeholder text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Enum fields valid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Schema types match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63440" y="1965960"/>
            <a:ext cx="4023360" cy="2834640"/>
          </a:xfrm>
          <a:prstGeom prst="rect">
            <a:avLst>
              <a:gd name="adj" fmla="val 3226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 — LLM JUDGE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846320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E"/>
                </a:solidFill>
              </a:rPr>
              <a:t>CoT prompted. Cheap model.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4632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5"/>
                </a:solidFill>
              </a:rPr>
              <a:t>Judge writes reasoning, then scores: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4632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Correctness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223760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7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4632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Realism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22376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7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84632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Distinctiveness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22376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7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846320" y="4160520"/>
            <a:ext cx="3657600" cy="411480"/>
          </a:xfrm>
          <a:prstGeom prst="rect">
            <a:avLst>
              <a:gd name="adj" fmla="val 11111"/>
            </a:avLst>
          </a:prstGeom>
          <a:solidFill>
            <a:srgbClr val="1E2A0F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0" y="4160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F757"/>
                </a:solidFill>
              </a:rPr>
              <a:t>Judge failure → conservative pass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5"/>
                </a:solidFill>
              </a:rPr>
              <a:t>Free tier: layer 1 only.  Pro/Enterprise: both layers.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274320"/>
          </a:xfrm>
          <a:prstGeom prst="rect">
            <a:avLst>
              <a:gd name="adj" fmla="val 50000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STAGE 06 · DEDUPE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22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731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MinHash — the middle-ground dedup.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5"/>
                </a:solidFill>
              </a:rPr>
              <a:t>Reviewer-recommended. Exact match is too weak. Semantic dedup is too aggressive.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2011680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14141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1488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 MATCH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E"/>
                </a:solidFill>
              </a:rPr>
              <a:t>Too weak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27432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want to create a JD."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295351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keep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48640" y="32461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want to create a JD!"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345643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keep (just "!")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640" y="37490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WANT to create A JD"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" y="395935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keep (casing)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48640" y="45262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5"/>
                </a:solidFill>
              </a:rPr>
              <a:t>Misses trivial variants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246120" y="2011680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141414"/>
          </a:solidFill>
          <a:ln w="25400">
            <a:solidFill>
              <a:srgbClr val="C8F75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83280" y="21488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MINHASH (V1)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38328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E"/>
                </a:solidFill>
              </a:rPr>
              <a:t>Just right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383280" y="27432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want to create a JD."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383280" y="295351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keep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383280" y="32461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want to create a JD!"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383280" y="345643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drop (same)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383280" y="37490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"Need a new job listing"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383280" y="395935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keep (paraphrase)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383280" y="45262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5"/>
                </a:solidFill>
              </a:rPr>
              <a:t>Catches junk, keeps variety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080760" y="2011680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14141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0" y="21488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(V2)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21792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E"/>
                </a:solidFill>
              </a:rPr>
              <a:t>Too aggressive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217920" y="27432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want to create a JD."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217920" y="295351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keep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217920" y="32461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want to create a JD!"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217920" y="345643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drop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217920" y="37490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"Need a new job listing"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217920" y="395935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drop (too similar)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217920" y="45262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5"/>
                </a:solidFill>
              </a:rPr>
              <a:t>Kills useful paraphrases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>
              <a:gd name="adj" fmla="val 50000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ERROR HANDLING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will break. Here's what happens.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5"/>
                </a:solidFill>
              </a:rPr>
              <a:t>Every failure mode has a defined response. No silent failures.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320040"/>
          </a:xfrm>
          <a:prstGeom prst="rect">
            <a:avLst>
              <a:gd name="adj" fmla="val 14286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 MODE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RESPONSE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Network timeout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Auto-retry 3× with backoff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2423160"/>
            <a:ext cx="137160" cy="13716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solidFill>
            <a:srgbClr val="F9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Rate limit (429)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2651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Pause job, email user, auto-resume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2743200"/>
            <a:ext cx="137160" cy="13716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651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Invalid API key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Fail job, clear message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3063240"/>
            <a:ext cx="137160" cy="137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2971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solidFill>
            <a:srgbClr val="F9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Bad JSON output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0" y="3291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Retry prompt 3×, skip if still bad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383280"/>
            <a:ext cx="137160" cy="13716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291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611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Safety refusal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Skip combo, log, continue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3703320"/>
            <a:ext cx="137160" cy="13716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0" y="3611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solidFill>
            <a:srgbClr val="F9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Judge hallucinates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0" y="3931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Conservative pass (accept with flag)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38160" y="4023360"/>
            <a:ext cx="137160" cy="13716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21040" y="3931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Worker crashes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57600" y="4251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Task → pending, next worker picks up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38160" y="4343400"/>
            <a:ext cx="137160" cy="13716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21040" y="4251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F9F7F2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572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DB outage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0" y="4572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5"/>
                </a:solidFill>
              </a:rPr>
              <a:t>Pause job, alert ops, resume when back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38160" y="4663440"/>
            <a:ext cx="137160" cy="137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21040" y="4572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>
              <a:gd name="adj" fmla="val 50000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JOB LIFECYCLE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machine. Crash-safe by design.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5"/>
                </a:solidFill>
              </a:rPr>
              <a:t>Every state is persisted. Server can restart without losing any job.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25400">
            <a:solidFill>
              <a:srgbClr val="8A8A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1031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21031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F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057400" y="210312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25400">
            <a:solidFill>
              <a:srgbClr val="7DD3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21031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F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840480" y="210312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25400">
            <a:solidFill>
              <a:srgbClr val="C8F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1031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1031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F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23560" y="210312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21031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21031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F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406640" y="210312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21031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57400" y="28803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failed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28803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failed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23560" y="28803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resume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EXAMPLE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388620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  →  Job submitted (25,000 samples, OpenAI)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08736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10:02  →  Planning complete, 250 combinations, generating...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28853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12:30  →  Rate limit hit (429). Job paused. Email sent to user.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489704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12:45  →  Auto-resume. Workers pick up pending rows from checkpoint.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69087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13:55  →  Job complete. 24,847 rows. Email sent with download link.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>
              <a:gd name="adj" fmla="val 50000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CAPACITY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tiers. Clear boundaries.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5"/>
                </a:solidFill>
              </a:rPr>
              <a:t>Pricing covers platform access. API costs stay with the user (BYOK).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96596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</a:rPr>
              <a:t>$0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28800" y="2788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154680"/>
            <a:ext cx="2331720" cy="18288"/>
          </a:xfrm>
          <a:prstGeom prst="rect">
            <a:avLst/>
          </a:prstGeom>
          <a:solidFill>
            <a:srgbClr val="E5E0D5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1,000 samples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520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min  ·  ~$0 LLM cost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• Rule-based judge only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41148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• 3 projects max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438912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• 2 API keys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46634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• Community support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196596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111111"/>
          </a:solidFill>
          <a:ln w="25400">
            <a:solidFill>
              <a:srgbClr val="C8F7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F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3EE"/>
                </a:solidFill>
              </a:rPr>
              <a:t>$29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663440" y="2788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5"/>
                </a:solidFill>
              </a:rPr>
              <a:t>/month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29000" y="3154680"/>
            <a:ext cx="233172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EE"/>
                </a:solidFill>
              </a:rPr>
              <a:t>25,000 samples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520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min  ·  ~$2 LLM cost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29000" y="384048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</a:rPr>
              <a:t>• Full CoT judge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41148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</a:rPr>
              <a:t>• Unlimited projects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29000" y="438912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</a:rPr>
              <a:t>• 10 API keys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29000" y="46634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3EE"/>
                </a:solidFill>
              </a:rPr>
              <a:t>• Email support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196596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Custom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498080" y="2788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3154680"/>
            <a:ext cx="2331720" cy="18288"/>
          </a:xfrm>
          <a:prstGeom prst="rect">
            <a:avLst/>
          </a:prstGeom>
          <a:solidFill>
            <a:srgbClr val="E5E0D5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100,000 samples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3520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2-4 hrs  ·  ~$20 LLM cost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63640" y="384048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• Priority workers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63640" y="41148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• Unlimited keys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63640" y="438912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• SLA + priority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63640" y="46634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</a:rPr>
              <a:t>• Onboarding help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>
              <a:gd name="adj" fmla="val 50000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QUALITY TARGETS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V1 promises.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5"/>
                </a:solidFill>
              </a:rPr>
              <a:t>If a job falls below these, it's flagged as degraded and the user is notified.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96596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965960"/>
            <a:ext cx="45720" cy="86868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EE"/>
                </a:solidFill>
              </a:rPr>
              <a:t>Schema validity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3500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5"/>
                </a:solidFill>
              </a:rPr>
              <a:t>Rows passing schema check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46120" y="21488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8F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98%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17720" y="196596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965960"/>
            <a:ext cx="45720" cy="86868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EE"/>
                </a:solidFill>
              </a:rPr>
              <a:t>Judge pass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3500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5"/>
                </a:solidFill>
              </a:rPr>
              <a:t>Rows meeting all 3 quality axes (Pro+)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52360" y="21488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8F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11480" y="297180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971800"/>
            <a:ext cx="45720" cy="86868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EE"/>
                </a:solidFill>
              </a:rPr>
              <a:t>Unique row rate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3558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5"/>
                </a:solidFill>
              </a:rPr>
              <a:t>Rows surviving MinHash dedup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46120" y="31546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8F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17720" y="297180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971800"/>
            <a:ext cx="45720" cy="86868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EE"/>
                </a:solidFill>
              </a:rPr>
              <a:t>Label balance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33558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5"/>
                </a:solidFill>
              </a:rPr>
              <a:t>Max deviation per label from target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52360" y="31546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8F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20%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11480" y="397764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977640"/>
            <a:ext cx="45720" cy="86868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EE"/>
                </a:solidFill>
              </a:rPr>
              <a:t>Time to first row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" y="43616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5"/>
                </a:solidFill>
              </a:rPr>
              <a:t>User sees output quickly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46120" y="41605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8F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30s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4617720" y="397764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3977640"/>
            <a:ext cx="45720" cy="868680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EE"/>
                </a:solidFill>
              </a:rPr>
              <a:t>Job resume success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43616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5"/>
                </a:solidFill>
              </a:rPr>
              <a:t>Checkpointed jobs always resume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52360" y="41605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8F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>
              <a:gd name="adj" fmla="val 50000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 tech, battle-tested.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5"/>
                </a:solidFill>
              </a:rPr>
              <a:t>No clever choices. Everything here has been to production elsewhere.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96596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965960"/>
            <a:ext cx="2697480" cy="36576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488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21305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Python 3.11+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" y="30358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FastAPI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34198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Celery + Redis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38039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PostgreSQL 16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41879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S3-compatible storage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46120" y="196596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46120" y="1965960"/>
            <a:ext cx="2697480" cy="36576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1488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86200" y="21305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42900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Next.js 14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429000" y="30358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React + Tailwind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429000" y="34198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shadcn/ui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429000" y="38039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Zustand + React Query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429000" y="41879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Recharts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080760" y="196596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080760" y="1965960"/>
            <a:ext cx="2697480" cy="36576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48840"/>
            <a:ext cx="320040" cy="3200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720840" y="21305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/ DATA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26364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datasketch (MinHash)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263640" y="30358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Pydantic v2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263640" y="34198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Direct LLM SDKs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263640" y="38039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No LangChain in prod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263640" y="41879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No LiteLLM (security)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>
              <a:gd name="adj" fmla="val 50000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201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is the beginning.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5"/>
                </a:solidFill>
              </a:rPr>
              <a:t>Every deferred feature has a home. We'll keep shipping.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96596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141414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F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— 3 months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880360"/>
            <a:ext cx="233172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</a:rPr>
              <a:t>• 6-stage pipeline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4015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</a:rPr>
              <a:t>• 100K samples max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7856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</a:rPr>
              <a:t>• BYOK for 5 providers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1696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</a:rPr>
              <a:t>• Crash-safe jobs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96596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141414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2900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 months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2880360"/>
            <a:ext cx="233172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</a:rPr>
              <a:t>• OAuth (Google, GitHub)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34015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</a:rPr>
              <a:t>• Multilingual (5 langs)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37856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</a:rPr>
              <a:t>• Dynamic personas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41696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</a:rPr>
              <a:t>• Team workspaces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196596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14141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6364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+9-12 months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2880360"/>
            <a:ext cx="233172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</a:rPr>
              <a:t>• Tabular data engine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34015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</a:rPr>
              <a:t>• Multi-turn dialogue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37856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</a:rPr>
              <a:t>• Up to 1M samples safely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41696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3EE"/>
                </a:solidFill>
              </a:rPr>
              <a:t>• Fine-tuning benchmarks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1E2A0F"/>
          </a:solidFill>
          <a:ln w="12700">
            <a:solidFill>
              <a:srgbClr val="1E2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657600"/>
            <a:ext cx="3200400" cy="3200400"/>
          </a:xfrm>
          <a:prstGeom prst="ellipse">
            <a:avLst/>
          </a:prstGeom>
          <a:solidFill>
            <a:srgbClr val="1E2A0F"/>
          </a:solidFill>
          <a:ln w="12700">
            <a:solidFill>
              <a:srgbClr val="1E2A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1097280"/>
            <a:ext cx="1280160" cy="1280160"/>
          </a:xfrm>
          <a:prstGeom prst="roundRect">
            <a:avLst>
              <a:gd name="adj" fmla="val 14286"/>
            </a:avLst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392" y="1444752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V1.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F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build.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2743200" y="4297680"/>
            <a:ext cx="3657600" cy="27432"/>
          </a:xfrm>
          <a:prstGeom prst="rect">
            <a:avLst/>
          </a:prstGeom>
          <a:solidFill>
            <a:srgbClr val="C8F757"/>
          </a:solidFill>
          <a:ln w="12700">
            <a:solidFill>
              <a:srgbClr val="C8F7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5"/>
                </a:solidFill>
              </a:rPr>
              <a:t>Focused scope  ·  Reviewer-approved architecture  ·  Clear tiers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SynthData V1.0  ·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SynthData V1 — Product Specification</dc:title>
  <dc:subject>PptxGenJS Presentation</dc:subject>
  <dc:creator>PptxGenJS</dc:creator>
  <cp:lastModifiedBy>PptxGenJS</cp:lastModifiedBy>
  <cp:revision>1</cp:revision>
  <dcterms:created xsi:type="dcterms:W3CDTF">2026-04-22T18:00:05Z</dcterms:created>
  <dcterms:modified xsi:type="dcterms:W3CDTF">2026-04-22T18:00:05Z</dcterms:modified>
</cp:coreProperties>
</file>